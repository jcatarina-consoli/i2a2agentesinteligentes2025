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9966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50"/>
              <a:buFont typeface="Roboto"/>
              <a:buNone/>
            </a:pPr>
            <a:r>
              <a:rPr lang="en-US" sz="44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Transforme Dados Fiscais em Decisões Estratégicas</a:t>
            </a:r>
            <a:endParaRPr sz="4450" b="0" i="0" u="none" strike="noStrike" cap="none"/>
          </a:p>
        </p:txBody>
      </p:sp>
      <p:sp>
        <p:nvSpPr>
          <p:cNvPr id="53" name="Google Shape;53;p12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Inteligência Artificial a Serviço do Seu Negócio: Maximizando o Valor das Suas Notas Fiscais</a:t>
            </a:r>
            <a:endParaRPr sz="1750" b="0" i="0" u="none" strike="noStrike" cap="none"/>
          </a:p>
        </p:txBody>
      </p:sp>
      <p:pic>
        <p:nvPicPr>
          <p:cNvPr id="54" name="Google Shape;54;p12" title="logo_fiscal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500" y="1449775"/>
            <a:ext cx="5605975" cy="56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6138267" y="754142"/>
            <a:ext cx="7840266" cy="1163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Roboto"/>
              <a:buNone/>
            </a:pPr>
            <a:r>
              <a:rPr lang="en-US" sz="36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Problema - O Desafio Oculto nas Notas Fiscais</a:t>
            </a:r>
            <a:endParaRPr sz="36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6138267" y="2197418"/>
            <a:ext cx="418981" cy="4189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6743462" y="2261354"/>
            <a:ext cx="2328148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Volume Exponencial</a:t>
            </a:r>
            <a:endParaRPr sz="180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6743462" y="2663904"/>
            <a:ext cx="7235071" cy="29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lang="en-US" sz="14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Empresas lidam com um volume massivo e crescente de notas fiscais.</a:t>
            </a:r>
            <a:endParaRPr sz="145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6138267" y="3334226"/>
            <a:ext cx="418981" cy="4189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743462" y="3398163"/>
            <a:ext cx="2328148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Dados Subutilizados</a:t>
            </a:r>
            <a:endParaRPr sz="1800" b="0" i="0" u="none" strike="noStrike" cap="none"/>
          </a:p>
        </p:txBody>
      </p:sp>
      <p:sp>
        <p:nvSpPr>
          <p:cNvPr id="67" name="Google Shape;67;p13"/>
          <p:cNvSpPr/>
          <p:nvPr/>
        </p:nvSpPr>
        <p:spPr>
          <a:xfrm>
            <a:off x="6743462" y="3800713"/>
            <a:ext cx="7235071" cy="29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lang="en-US" sz="14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Informações cruciais presas em documentos, raramente exploradas em sua totalidade.</a:t>
            </a:r>
            <a:endParaRPr sz="1450" b="0" i="0" u="none" strike="noStrike" cap="none"/>
          </a:p>
        </p:txBody>
      </p:sp>
      <p:sp>
        <p:nvSpPr>
          <p:cNvPr id="68" name="Google Shape;68;p13"/>
          <p:cNvSpPr/>
          <p:nvPr/>
        </p:nvSpPr>
        <p:spPr>
          <a:xfrm>
            <a:off x="6138267" y="4471035"/>
            <a:ext cx="418981" cy="4189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6743462" y="4534972"/>
            <a:ext cx="3507224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Processos Manuais e Ineficientes</a:t>
            </a:r>
            <a:endParaRPr sz="1800" b="0" i="0" u="none" strike="noStrike" cap="none"/>
          </a:p>
        </p:txBody>
      </p:sp>
      <p:sp>
        <p:nvSpPr>
          <p:cNvPr id="70" name="Google Shape;70;p13"/>
          <p:cNvSpPr/>
          <p:nvPr/>
        </p:nvSpPr>
        <p:spPr>
          <a:xfrm>
            <a:off x="6743462" y="4937522"/>
            <a:ext cx="7235071" cy="29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lang="en-US" sz="14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Extração e análise manual são demoradas, custosas e propensas a erros humanos.</a:t>
            </a:r>
            <a:endParaRPr sz="1450" b="0" i="0" u="none" strike="noStrike" cap="none"/>
          </a:p>
        </p:txBody>
      </p:sp>
      <p:sp>
        <p:nvSpPr>
          <p:cNvPr id="71" name="Google Shape;71;p13"/>
          <p:cNvSpPr/>
          <p:nvPr/>
        </p:nvSpPr>
        <p:spPr>
          <a:xfrm>
            <a:off x="6138267" y="5607844"/>
            <a:ext cx="418981" cy="4189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6743462" y="5671780"/>
            <a:ext cx="2519482" cy="2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Perda de Oportunidades</a:t>
            </a:r>
            <a:endParaRPr sz="1800" b="0" i="0" u="none" strike="noStrike" cap="none"/>
          </a:p>
        </p:txBody>
      </p:sp>
      <p:sp>
        <p:nvSpPr>
          <p:cNvPr id="73" name="Google Shape;73;p13"/>
          <p:cNvSpPr/>
          <p:nvPr/>
        </p:nvSpPr>
        <p:spPr>
          <a:xfrm>
            <a:off x="6743462" y="6074331"/>
            <a:ext cx="7235071" cy="59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lang="en-US" sz="14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Decisões tomadas sem visibilidade completa, resultando em perda de eficiência, riscos fiscais não identificados e oportunidades de economia desperdiçadas.</a:t>
            </a:r>
            <a:endParaRPr sz="1450" b="0" i="0" u="none" strike="noStrike" cap="none"/>
          </a:p>
        </p:txBody>
      </p:sp>
      <p:sp>
        <p:nvSpPr>
          <p:cNvPr id="74" name="Google Shape;74;p13"/>
          <p:cNvSpPr/>
          <p:nvPr/>
        </p:nvSpPr>
        <p:spPr>
          <a:xfrm>
            <a:off x="6138267" y="6879550"/>
            <a:ext cx="7840266" cy="59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450"/>
              <a:buFont typeface="Roboto"/>
              <a:buNone/>
            </a:pPr>
            <a:r>
              <a:rPr lang="en-US" sz="1450" b="1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Consequência:</a:t>
            </a:r>
            <a:r>
              <a:rPr lang="en-US" sz="14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Ineficiência operacional, custos elevados, riscos de compliance e decisões estratégicas baseadas em informações incompletas.</a:t>
            </a:r>
            <a:endParaRPr sz="14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3650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617458" y="485061"/>
            <a:ext cx="7909084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Roboto"/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Nossa Solução - FiscalIA: Inteligência que Gera Valor</a:t>
            </a:r>
            <a:endParaRPr sz="3450" b="0" i="0" u="none" strike="noStrike" cap="none"/>
          </a:p>
        </p:txBody>
      </p:sp>
      <p:sp>
        <p:nvSpPr>
          <p:cNvPr id="82" name="Google Shape;82;p14"/>
          <p:cNvSpPr/>
          <p:nvPr/>
        </p:nvSpPr>
        <p:spPr>
          <a:xfrm>
            <a:off x="617458" y="1852136"/>
            <a:ext cx="7909084" cy="1031677"/>
          </a:xfrm>
          <a:prstGeom prst="roundRect">
            <a:avLst>
              <a:gd name="adj" fmla="val 7182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801410" y="2036087"/>
            <a:ext cx="5063362" cy="72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6470"/>
              </a:lnSpc>
              <a:buClr>
                <a:srgbClr val="CFD0D8"/>
              </a:buClr>
              <a:buSzPts val="1700"/>
            </a:pPr>
            <a:r>
              <a:rPr lang="en-US" sz="2400" b="1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Extrair</a:t>
            </a:r>
            <a:r>
              <a:rPr lang="en-US" sz="2400" b="1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b="1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validar</a:t>
            </a:r>
            <a:r>
              <a:rPr lang="en-US" sz="2400" b="1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2400" b="1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organizer </a:t>
            </a:r>
            <a:r>
              <a:rPr lang="en-US" sz="2400" b="1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os</a:t>
            </a:r>
            <a:r>
              <a:rPr lang="en-US" sz="2400" b="1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dados</a:t>
            </a:r>
            <a:endParaRPr lang="en-US" sz="2400" b="1" dirty="0"/>
          </a:p>
        </p:txBody>
      </p:sp>
      <p:sp>
        <p:nvSpPr>
          <p:cNvPr id="85" name="Google Shape;85;p14"/>
          <p:cNvSpPr/>
          <p:nvPr/>
        </p:nvSpPr>
        <p:spPr>
          <a:xfrm>
            <a:off x="617458" y="3060144"/>
            <a:ext cx="7909084" cy="1031677"/>
          </a:xfrm>
          <a:prstGeom prst="roundRect">
            <a:avLst>
              <a:gd name="adj" fmla="val 7182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801409" y="3300352"/>
            <a:ext cx="5609901" cy="27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6470"/>
              </a:lnSpc>
              <a:buClr>
                <a:srgbClr val="CFD0D8"/>
              </a:buClr>
              <a:buSzPts val="1700"/>
            </a:pPr>
            <a:r>
              <a:rPr lang="en-US" sz="2400" b="1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Identificar</a:t>
            </a:r>
            <a:r>
              <a:rPr lang="en-US" sz="2400" b="1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b="1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erros</a:t>
            </a:r>
            <a:r>
              <a:rPr lang="en-US" sz="2400" b="1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2400" b="1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inconsistências</a:t>
            </a:r>
            <a:endParaRPr lang="en-US" sz="2400" b="1" dirty="0"/>
          </a:p>
        </p:txBody>
      </p:sp>
      <p:sp>
        <p:nvSpPr>
          <p:cNvPr id="88" name="Google Shape;88;p14"/>
          <p:cNvSpPr/>
          <p:nvPr/>
        </p:nvSpPr>
        <p:spPr>
          <a:xfrm>
            <a:off x="617458" y="4268153"/>
            <a:ext cx="7909084" cy="1031677"/>
          </a:xfrm>
          <a:prstGeom prst="roundRect">
            <a:avLst>
              <a:gd name="adj" fmla="val 7182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801409" y="4508361"/>
            <a:ext cx="7049818" cy="27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6470"/>
              </a:lnSpc>
              <a:buClr>
                <a:srgbClr val="CFD0D8"/>
              </a:buClr>
              <a:buSzPts val="1700"/>
            </a:pPr>
            <a:r>
              <a:rPr lang="pt-BR" sz="2400" b="1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Transformar dados brutos em insights acionáveis</a:t>
            </a:r>
            <a:endParaRPr lang="pt-BR" sz="2400" b="1" dirty="0"/>
          </a:p>
        </p:txBody>
      </p:sp>
      <p:sp>
        <p:nvSpPr>
          <p:cNvPr id="91" name="Google Shape;91;p14"/>
          <p:cNvSpPr/>
          <p:nvPr/>
        </p:nvSpPr>
        <p:spPr>
          <a:xfrm>
            <a:off x="617458" y="5476161"/>
            <a:ext cx="7909084" cy="1031677"/>
          </a:xfrm>
          <a:prstGeom prst="roundRect">
            <a:avLst>
              <a:gd name="adj" fmla="val 7182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617458" y="6706195"/>
            <a:ext cx="7909084" cy="28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"/>
              <a:buNone/>
            </a:pPr>
            <a:r>
              <a:rPr lang="en-US" sz="13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Apresentamos </a:t>
            </a:r>
            <a:r>
              <a:rPr lang="en-US" sz="1350" b="1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FiscalIA</a:t>
            </a:r>
            <a:r>
              <a:rPr lang="en-US" sz="13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uma solução inovadora que utiliza Inteligência Artificial para:</a:t>
            </a:r>
            <a:endParaRPr sz="1350" b="0" i="0" u="none" strike="noStrike" cap="none"/>
          </a:p>
        </p:txBody>
      </p:sp>
      <p:sp>
        <p:nvSpPr>
          <p:cNvPr id="95" name="Google Shape;95;p14"/>
          <p:cNvSpPr/>
          <p:nvPr/>
        </p:nvSpPr>
        <p:spPr>
          <a:xfrm>
            <a:off x="617458" y="7186851"/>
            <a:ext cx="7909084" cy="564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50"/>
              <a:buFont typeface="Roboto"/>
              <a:buNone/>
            </a:pPr>
            <a:r>
              <a:rPr lang="en-US" sz="1350" b="1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Nossa Missão:</a:t>
            </a:r>
            <a:r>
              <a:rPr lang="en-US" sz="13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Transformar dados brutos de notas fiscais em inteligência para negócios e controle fiscal/financeiro automático.</a:t>
            </a:r>
            <a:endParaRPr sz="1350" b="0" i="0" u="none" strike="noStrike" cap="none"/>
          </a:p>
        </p:txBody>
      </p:sp>
      <p:sp>
        <p:nvSpPr>
          <p:cNvPr id="18" name="Google Shape;89;p14"/>
          <p:cNvSpPr/>
          <p:nvPr/>
        </p:nvSpPr>
        <p:spPr>
          <a:xfrm>
            <a:off x="801410" y="5540036"/>
            <a:ext cx="7049818" cy="9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26470"/>
              </a:lnSpc>
              <a:buClr>
                <a:srgbClr val="CFD0D8"/>
              </a:buClr>
              <a:buSzPts val="1700"/>
            </a:pPr>
            <a:r>
              <a:rPr lang="pt-BR" sz="2400" b="1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Explorar os dados com perguntas e respostas automatizadas</a:t>
            </a:r>
            <a:endParaRPr lang="pt-BR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671155" y="572572"/>
            <a:ext cx="7801689" cy="119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Roboto"/>
              <a:buNone/>
            </a:pPr>
            <a:r>
              <a:rPr lang="en-US" sz="37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Como Funciona - A Jornada do Dado à Inteligência</a:t>
            </a:r>
            <a:endParaRPr sz="3750" b="0" i="0" u="none" strike="noStrike" cap="none"/>
          </a:p>
        </p:txBody>
      </p:sp>
      <p:sp>
        <p:nvSpPr>
          <p:cNvPr id="103" name="Google Shape;103;p15"/>
          <p:cNvSpPr/>
          <p:nvPr/>
        </p:nvSpPr>
        <p:spPr>
          <a:xfrm>
            <a:off x="671155" y="2058591"/>
            <a:ext cx="191691" cy="1478637"/>
          </a:xfrm>
          <a:prstGeom prst="roundRect">
            <a:avLst>
              <a:gd name="adj" fmla="val 42016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1054537" y="2250281"/>
            <a:ext cx="2625923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lang="en-US" sz="185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ENTRADA</a:t>
            </a:r>
            <a:endParaRPr sz="1850" b="0" i="0" u="none" strike="noStrike" cap="none" dirty="0"/>
          </a:p>
        </p:txBody>
      </p:sp>
      <p:sp>
        <p:nvSpPr>
          <p:cNvPr id="105" name="Google Shape;105;p15"/>
          <p:cNvSpPr/>
          <p:nvPr/>
        </p:nvSpPr>
        <p:spPr>
          <a:xfrm>
            <a:off x="1054537" y="2664857"/>
            <a:ext cx="7418308" cy="30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Char char="•"/>
            </a:pPr>
            <a:r>
              <a:rPr lang="en-US" sz="1500" b="1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500" b="1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rquivos</a:t>
            </a:r>
            <a:r>
              <a:rPr lang="en-US" sz="1500" b="1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CSV, XLS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XLSX</a:t>
            </a:r>
            <a:endParaRPr sz="1500" b="0" i="0" u="none" strike="noStrike" cap="none" dirty="0"/>
          </a:p>
        </p:txBody>
      </p:sp>
      <p:sp>
        <p:nvSpPr>
          <p:cNvPr id="107" name="Google Shape;107;p15"/>
          <p:cNvSpPr/>
          <p:nvPr/>
        </p:nvSpPr>
        <p:spPr>
          <a:xfrm>
            <a:off x="1054537" y="3680936"/>
            <a:ext cx="191809" cy="1586839"/>
          </a:xfrm>
          <a:prstGeom prst="roundRect">
            <a:avLst>
              <a:gd name="adj" fmla="val 42016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1342073" y="3872627"/>
            <a:ext cx="3679984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lang="en-US" sz="18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PROCESSAMENTO Inteligente (IA)</a:t>
            </a:r>
            <a:endParaRPr sz="18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1342073" y="4287203"/>
            <a:ext cx="7130772" cy="61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None/>
            </a:pPr>
            <a:r>
              <a:rPr lang="en-US" sz="15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Leitura</a:t>
            </a:r>
            <a:r>
              <a:rPr lang="en-US" sz="15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15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Extração</a:t>
            </a:r>
            <a:r>
              <a:rPr lang="en-US" sz="15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extração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dos dados e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padronização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dos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campos</a:t>
            </a:r>
            <a:endParaRPr sz="1500" b="0" i="0" u="none" strike="noStrike" cap="none" dirty="0"/>
          </a:p>
        </p:txBody>
      </p:sp>
      <p:sp>
        <p:nvSpPr>
          <p:cNvPr id="110" name="Google Shape;110;p15"/>
          <p:cNvSpPr/>
          <p:nvPr/>
        </p:nvSpPr>
        <p:spPr>
          <a:xfrm>
            <a:off x="1342073" y="4747167"/>
            <a:ext cx="7130772" cy="30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None/>
            </a:pPr>
            <a:r>
              <a:rPr lang="en-US" sz="15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Validação</a:t>
            </a:r>
            <a:r>
              <a:rPr lang="en-US" sz="15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500" b="0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Checagem</a:t>
            </a:r>
            <a:r>
              <a:rPr lang="en-US" sz="1500" b="0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campos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datas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1500" b="0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duplicidade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 dirty="0"/>
          </a:p>
        </p:txBody>
      </p:sp>
      <p:sp>
        <p:nvSpPr>
          <p:cNvPr id="112" name="Google Shape;112;p15"/>
          <p:cNvSpPr/>
          <p:nvPr/>
        </p:nvSpPr>
        <p:spPr>
          <a:xfrm>
            <a:off x="1246346" y="5720808"/>
            <a:ext cx="191691" cy="1413655"/>
          </a:xfrm>
          <a:prstGeom prst="roundRect">
            <a:avLst>
              <a:gd name="adj" fmla="val 42016"/>
            </a:avLst>
          </a:prstGeom>
          <a:solidFill>
            <a:srgbClr val="182567"/>
          </a:solidFill>
          <a:ln w="9525" cap="flat" cmpd="sng">
            <a:solidFill>
              <a:srgbClr val="313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1629728" y="5849835"/>
            <a:ext cx="2396966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850"/>
              <a:buFont typeface="Roboto"/>
              <a:buNone/>
            </a:pPr>
            <a:r>
              <a:rPr lang="en-US" sz="1850" b="0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SAÍDA de Valor</a:t>
            </a:r>
            <a:endParaRPr sz="1850" b="0" i="0" u="none" strike="noStrike" cap="none" dirty="0"/>
          </a:p>
        </p:txBody>
      </p:sp>
      <p:sp>
        <p:nvSpPr>
          <p:cNvPr id="114" name="Google Shape;114;p15"/>
          <p:cNvSpPr/>
          <p:nvPr/>
        </p:nvSpPr>
        <p:spPr>
          <a:xfrm>
            <a:off x="1629728" y="6590228"/>
            <a:ext cx="6843117" cy="30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None/>
            </a:pPr>
            <a:r>
              <a:rPr lang="en-US" sz="1500" b="1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r>
              <a:rPr lang="en-US" sz="1500" b="0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 dirty="0"/>
          </a:p>
        </p:txBody>
      </p:sp>
      <p:sp>
        <p:nvSpPr>
          <p:cNvPr id="115" name="Google Shape;115;p15"/>
          <p:cNvSpPr/>
          <p:nvPr/>
        </p:nvSpPr>
        <p:spPr>
          <a:xfrm>
            <a:off x="671155" y="7350085"/>
            <a:ext cx="7801689" cy="30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Simples, Rápido e Confiável.</a:t>
            </a:r>
            <a:endParaRPr sz="1500" b="0" i="0" u="none" strike="noStrike" cap="none"/>
          </a:p>
        </p:txBody>
      </p:sp>
      <p:sp>
        <p:nvSpPr>
          <p:cNvPr id="17" name="Google Shape;114;p15"/>
          <p:cNvSpPr/>
          <p:nvPr/>
        </p:nvSpPr>
        <p:spPr>
          <a:xfrm>
            <a:off x="1629728" y="6229886"/>
            <a:ext cx="6843117" cy="30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Roboto"/>
              <a:buNone/>
            </a:pPr>
            <a:r>
              <a:rPr lang="en-US" sz="1500" b="1" dirty="0" err="1" smtClean="0">
                <a:solidFill>
                  <a:srgbClr val="CFD0D8"/>
                </a:solidFill>
                <a:latin typeface="Roboto"/>
                <a:ea typeface="Roboto"/>
                <a:sym typeface="Roboto"/>
              </a:rPr>
              <a:t>Interação</a:t>
            </a:r>
            <a:r>
              <a:rPr lang="en-US" sz="1500" b="1" dirty="0" smtClean="0">
                <a:solidFill>
                  <a:srgbClr val="CFD0D8"/>
                </a:solidFill>
                <a:latin typeface="Roboto"/>
                <a:ea typeface="Roboto"/>
                <a:sym typeface="Roboto"/>
              </a:rPr>
              <a:t> via chat.</a:t>
            </a:r>
            <a:endParaRPr sz="1500" b="0" i="0" u="none" strike="noStrike" cap="non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619958" y="762833"/>
            <a:ext cx="12784217" cy="553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Roboto"/>
              <a:buNone/>
            </a:pPr>
            <a:r>
              <a:rPr lang="en-US" sz="34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Proposta de Valor (V1) - Entrega Rápida de Resultados Tangíveis</a:t>
            </a:r>
            <a:endParaRPr sz="3450" b="0" i="0" u="none" strike="noStrike" cap="none"/>
          </a:p>
        </p:txBody>
      </p:sp>
      <p:pic>
        <p:nvPicPr>
          <p:cNvPr id="122" name="Google Shape;12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958" y="1670447"/>
            <a:ext cx="885587" cy="106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1682591" y="2026170"/>
            <a:ext cx="2579965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lang="en-US" sz="1700" b="1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Importação</a:t>
            </a:r>
            <a:endParaRPr sz="1700" b="1" i="0" u="none" strike="noStrike" cap="none" dirty="0"/>
          </a:p>
        </p:txBody>
      </p:sp>
      <p:pic>
        <p:nvPicPr>
          <p:cNvPr id="125" name="Google Shape;125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958" y="2733199"/>
            <a:ext cx="885587" cy="106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1682591" y="3015347"/>
            <a:ext cx="2883337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lang="en-US" sz="17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Leitura</a:t>
            </a:r>
            <a:r>
              <a:rPr lang="en-US" sz="17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1700" b="1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Extração</a:t>
            </a:r>
            <a:endParaRPr sz="1700" b="1" i="0" u="none" strike="noStrike" cap="none" dirty="0"/>
          </a:p>
        </p:txBody>
      </p:sp>
      <p:pic>
        <p:nvPicPr>
          <p:cNvPr id="128" name="Google Shape;128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958" y="3795951"/>
            <a:ext cx="885587" cy="106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1682591" y="4099121"/>
            <a:ext cx="3036554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lang="en-US" sz="17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Validação</a:t>
            </a:r>
            <a:r>
              <a:rPr lang="en-US" sz="17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00" b="1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dos Campos</a:t>
            </a:r>
            <a:endParaRPr sz="1700" b="1" i="0" u="none" strike="noStrike" cap="none" dirty="0"/>
          </a:p>
        </p:txBody>
      </p:sp>
      <p:sp>
        <p:nvSpPr>
          <p:cNvPr id="132" name="Google Shape;132;p16"/>
          <p:cNvSpPr/>
          <p:nvPr/>
        </p:nvSpPr>
        <p:spPr>
          <a:xfrm>
            <a:off x="1682591" y="5109318"/>
            <a:ext cx="2848928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lang="en-US" sz="1700" b="1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Agente</a:t>
            </a:r>
            <a:r>
              <a:rPr lang="en-US" sz="1700" b="1" i="0" u="none" strike="noStrike" cap="none" dirty="0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00" b="1" i="0" u="none" strike="noStrike" cap="none" dirty="0" err="1" smtClean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Inteligente</a:t>
            </a:r>
            <a:endParaRPr sz="1700" b="1" i="0" u="none" strike="noStrike" cap="none" dirty="0"/>
          </a:p>
        </p:txBody>
      </p:sp>
      <p:pic>
        <p:nvPicPr>
          <p:cNvPr id="134" name="Google Shape;134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958" y="5921454"/>
            <a:ext cx="885587" cy="106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1682591" y="6140540"/>
            <a:ext cx="2275642" cy="27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00"/>
              <a:buFont typeface="Roboto"/>
              <a:buNone/>
            </a:pPr>
            <a:r>
              <a:rPr lang="en-US" sz="1700" b="1" i="0" u="none" strike="noStrike" cap="none" dirty="0" err="1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Relatórios</a:t>
            </a:r>
            <a:r>
              <a:rPr lang="en-US" sz="1700" b="1" i="0" u="none" strike="noStrike" cap="none" dirty="0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/Dashboards</a:t>
            </a:r>
            <a:endParaRPr sz="1700" b="1" i="0" u="none" strike="noStrike" cap="none" dirty="0"/>
          </a:p>
        </p:txBody>
      </p:sp>
      <p:pic>
        <p:nvPicPr>
          <p:cNvPr id="18" name="Google Shape;125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957" y="4848642"/>
            <a:ext cx="885587" cy="106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732711" y="910114"/>
            <a:ext cx="8932902" cy="65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oboto"/>
              <a:buNone/>
            </a:pPr>
            <a:r>
              <a:rPr lang="en-US" sz="41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Por Que FiscalIA? Nossos Diferenciais</a:t>
            </a:r>
            <a:endParaRPr sz="4100" b="0" i="0" u="none" strike="noStrike" cap="none"/>
          </a:p>
        </p:txBody>
      </p:sp>
      <p:pic>
        <p:nvPicPr>
          <p:cNvPr id="163" name="Google Shape;16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711" y="1983105"/>
            <a:ext cx="523399" cy="5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732711" y="2768203"/>
            <a:ext cx="3094911" cy="65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Roboto"/>
              <a:buNone/>
            </a:pPr>
            <a:r>
              <a:rPr lang="en-US" sz="20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Inteligência Artificial Avançada</a:t>
            </a:r>
            <a:endParaRPr sz="2050" b="0" i="0" u="none" strike="noStrike" cap="none"/>
          </a:p>
        </p:txBody>
      </p:sp>
      <p:sp>
        <p:nvSpPr>
          <p:cNvPr id="165" name="Google Shape;165;p18"/>
          <p:cNvSpPr/>
          <p:nvPr/>
        </p:nvSpPr>
        <p:spPr>
          <a:xfrm>
            <a:off x="732711" y="3547943"/>
            <a:ext cx="3094911" cy="100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Foco em 100% de aproveitamento dos dados para precisão e insights profundos.</a:t>
            </a:r>
            <a:endParaRPr sz="1600" b="0" i="0" u="none" strike="noStrike" cap="none"/>
          </a:p>
        </p:txBody>
      </p:sp>
      <p:pic>
        <p:nvPicPr>
          <p:cNvPr id="166" name="Google Shape;166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9321" y="1983105"/>
            <a:ext cx="523399" cy="5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4089321" y="2768203"/>
            <a:ext cx="3095030" cy="65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Roboto"/>
              <a:buNone/>
            </a:pPr>
            <a:r>
              <a:rPr lang="en-US" sz="20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Automação de Ponta a Ponta</a:t>
            </a:r>
            <a:endParaRPr sz="2050" b="0" i="0" u="none" strike="noStrike" cap="none"/>
          </a:p>
        </p:txBody>
      </p:sp>
      <p:sp>
        <p:nvSpPr>
          <p:cNvPr id="168" name="Google Shape;168;p18"/>
          <p:cNvSpPr/>
          <p:nvPr/>
        </p:nvSpPr>
        <p:spPr>
          <a:xfrm>
            <a:off x="4089321" y="3547943"/>
            <a:ext cx="3095030" cy="67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Redução drástica de trabalho manual e erros.</a:t>
            </a:r>
            <a:endParaRPr sz="1600" b="0" i="0" u="none" strike="noStrike" cap="none"/>
          </a:p>
        </p:txBody>
      </p:sp>
      <p:pic>
        <p:nvPicPr>
          <p:cNvPr id="169" name="Google Shape;169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6050" y="1983105"/>
            <a:ext cx="523399" cy="5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7446050" y="2768203"/>
            <a:ext cx="2617232" cy="32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Roboto"/>
              <a:buNone/>
            </a:pPr>
            <a:r>
              <a:rPr lang="en-US" sz="20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Foco no Valor Real</a:t>
            </a:r>
            <a:endParaRPr sz="2050" b="0" i="0" u="none" strike="noStrike" cap="none"/>
          </a:p>
        </p:txBody>
      </p:sp>
      <p:sp>
        <p:nvSpPr>
          <p:cNvPr id="171" name="Google Shape;171;p18"/>
          <p:cNvSpPr/>
          <p:nvPr/>
        </p:nvSpPr>
        <p:spPr>
          <a:xfrm>
            <a:off x="7446050" y="3220879"/>
            <a:ext cx="3094911" cy="100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Transformamos dados complexos em informações claras e acionáveis.</a:t>
            </a:r>
            <a:endParaRPr sz="1600" b="0" i="0" u="none" strike="noStrike" cap="none"/>
          </a:p>
        </p:txBody>
      </p:sp>
      <p:pic>
        <p:nvPicPr>
          <p:cNvPr id="172" name="Google Shape;17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2660" y="1983105"/>
            <a:ext cx="523399" cy="5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10802660" y="2768203"/>
            <a:ext cx="3095030" cy="65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Roboto"/>
              <a:buNone/>
            </a:pPr>
            <a:r>
              <a:rPr lang="en-US" sz="20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Plataforma Intuitiva e Escalável</a:t>
            </a:r>
            <a:endParaRPr sz="2050" b="0" i="0" u="none" strike="noStrike" cap="none"/>
          </a:p>
        </p:txBody>
      </p:sp>
      <p:sp>
        <p:nvSpPr>
          <p:cNvPr id="174" name="Google Shape;174;p18"/>
          <p:cNvSpPr/>
          <p:nvPr/>
        </p:nvSpPr>
        <p:spPr>
          <a:xfrm>
            <a:off x="10802660" y="3547943"/>
            <a:ext cx="3095030" cy="670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Fácil de usar e pronta para crescer com sua empresa.</a:t>
            </a:r>
            <a:endParaRPr sz="1600" b="0" i="0" u="none" strike="noStrike" cap="none"/>
          </a:p>
        </p:txBody>
      </p:sp>
      <p:pic>
        <p:nvPicPr>
          <p:cNvPr id="175" name="Google Shape;175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2711" y="5076468"/>
            <a:ext cx="523399" cy="523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732711" y="5861566"/>
            <a:ext cx="2617232" cy="32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Roboto"/>
              <a:buNone/>
            </a:pPr>
            <a:r>
              <a:rPr lang="en-US" sz="205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Visão de Futuro</a:t>
            </a:r>
            <a:endParaRPr sz="2050" b="0" i="0" u="none" strike="noStrike" cap="none"/>
          </a:p>
        </p:txBody>
      </p:sp>
      <p:sp>
        <p:nvSpPr>
          <p:cNvPr id="177" name="Google Shape;177;p18"/>
          <p:cNvSpPr/>
          <p:nvPr/>
        </p:nvSpPr>
        <p:spPr>
          <a:xfrm>
            <a:off x="732711" y="6314242"/>
            <a:ext cx="3094911" cy="100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CFD0D8"/>
                </a:solidFill>
                <a:latin typeface="Roboto"/>
                <a:ea typeface="Roboto"/>
                <a:cs typeface="Roboto"/>
                <a:sym typeface="Roboto"/>
              </a:rPr>
              <a:t>Roadmap robusto para evoluir continuamente e agregar mais inteligência ao seu negócio.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2" title="logo_fiscal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375" y="1218421"/>
            <a:ext cx="5605975" cy="5605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4931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351</Words>
  <Application>Microsoft Office PowerPoint</Application>
  <PresentationFormat>Personalizar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Souza</dc:creator>
  <cp:lastModifiedBy>Juliana</cp:lastModifiedBy>
  <cp:revision>5</cp:revision>
  <dcterms:modified xsi:type="dcterms:W3CDTF">2025-11-01T19:34:23Z</dcterms:modified>
</cp:coreProperties>
</file>